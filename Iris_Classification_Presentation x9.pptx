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779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/home/claude/work/logo_transparent.png">
            <a:extLst>
              <a:ext uri="{FF2B5EF4-FFF2-40B4-BE49-F238E27FC236}">
                <a16:creationId xmlns:a16="http://schemas.microsoft.com/office/drawing/2014/main" id="{46B2FCDD-74A7-7A6B-3F68-1166F9191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534" y="380726"/>
            <a:ext cx="4170625" cy="2069866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BD880BEC-EC5C-5311-1A0E-0E91C431F34D}"/>
              </a:ext>
            </a:extLst>
          </p:cNvPr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IILM UNIVERSITY</a:t>
            </a:r>
            <a:endParaRPr lang="en-US" sz="2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F2F3A2B-98BA-D1D7-6F82-D458A92F917F}"/>
              </a:ext>
            </a:extLst>
          </p:cNvPr>
          <p:cNvSpPr/>
          <p:nvPr/>
        </p:nvSpPr>
        <p:spPr>
          <a:xfrm>
            <a:off x="0" y="2578608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AFBF725-C169-AB66-FB98-99D1458035C8}"/>
              </a:ext>
            </a:extLst>
          </p:cNvPr>
          <p:cNvSpPr/>
          <p:nvPr/>
        </p:nvSpPr>
        <p:spPr>
          <a:xfrm>
            <a:off x="4678528" y="3127248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8B1E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EE293FC-01B7-9F30-23CF-C8D422044CB2}"/>
              </a:ext>
            </a:extLst>
          </p:cNvPr>
          <p:cNvSpPr/>
          <p:nvPr/>
        </p:nvSpPr>
        <p:spPr>
          <a:xfrm>
            <a:off x="731520" y="3611880"/>
            <a:ext cx="10728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Iris Flower Classification</a:t>
            </a:r>
            <a:endParaRPr lang="en-US" sz="3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3400" dirty="0"/>
          </a:p>
        </p:txBody>
      </p:sp>
      <p:pic>
        <p:nvPicPr>
          <p:cNvPr id="15" name="Image 1" descr="/home/claude/work/icons/layers_FFFFFF.png">
            <a:extLst>
              <a:ext uri="{FF2B5EF4-FFF2-40B4-BE49-F238E27FC236}">
                <a16:creationId xmlns:a16="http://schemas.microsoft.com/office/drawing/2014/main" id="{18E51061-5CEC-A104-B79A-95B90B39F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125" y="5189037"/>
            <a:ext cx="247254" cy="247254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CDE0E366-47B2-2452-4F28-AE7B254B4D0A}"/>
              </a:ext>
            </a:extLst>
          </p:cNvPr>
          <p:cNvSpPr/>
          <p:nvPr/>
        </p:nvSpPr>
        <p:spPr>
          <a:xfrm>
            <a:off x="2282800" y="50749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9D0B4A0E-1201-B575-184B-8FC8C2EE9DD2}"/>
              </a:ext>
            </a:extLst>
          </p:cNvPr>
          <p:cNvSpPr/>
          <p:nvPr/>
        </p:nvSpPr>
        <p:spPr>
          <a:xfrm>
            <a:off x="2282800" y="5294376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7th Semester</a:t>
            </a:r>
            <a:endParaRPr lang="en-US" sz="1500" dirty="0"/>
          </a:p>
        </p:txBody>
      </p:sp>
      <p:pic>
        <p:nvPicPr>
          <p:cNvPr id="21" name="Image 2" descr="/home/claude/work/icons/project_FFFFFF.png">
            <a:extLst>
              <a:ext uri="{FF2B5EF4-FFF2-40B4-BE49-F238E27FC236}">
                <a16:creationId xmlns:a16="http://schemas.microsoft.com/office/drawing/2014/main" id="{77A3B47D-EA0A-1415-B789-A04DCB698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565" y="5189037"/>
            <a:ext cx="247254" cy="247254"/>
          </a:xfrm>
          <a:prstGeom prst="rect">
            <a:avLst/>
          </a:prstGeom>
        </p:spPr>
      </p:pic>
      <p:sp>
        <p:nvSpPr>
          <p:cNvPr id="23" name="Text 13">
            <a:extLst>
              <a:ext uri="{FF2B5EF4-FFF2-40B4-BE49-F238E27FC236}">
                <a16:creationId xmlns:a16="http://schemas.microsoft.com/office/drawing/2014/main" id="{DA94BE9A-FFA2-74D6-FA4B-9266ED0C57EB}"/>
              </a:ext>
            </a:extLst>
          </p:cNvPr>
          <p:cNvSpPr/>
          <p:nvPr/>
        </p:nvSpPr>
        <p:spPr>
          <a:xfrm>
            <a:off x="6946240" y="5074920"/>
            <a:ext cx="3584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44B02AB3-210A-33D3-A4F0-994E0D8E37C5}"/>
              </a:ext>
            </a:extLst>
          </p:cNvPr>
          <p:cNvSpPr/>
          <p:nvPr/>
        </p:nvSpPr>
        <p:spPr>
          <a:xfrm>
            <a:off x="6946240" y="5294376"/>
            <a:ext cx="3584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OASIS Infobyte</a:t>
            </a:r>
            <a:endParaRPr lang="en-US" sz="15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3B742EB5-F17F-7C0F-A6F2-3ADAAC354D3D}"/>
              </a:ext>
            </a:extLst>
          </p:cNvPr>
          <p:cNvSpPr/>
          <p:nvPr/>
        </p:nvSpPr>
        <p:spPr>
          <a:xfrm>
            <a:off x="0" y="601675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Mahima Shiv Dwivedi</a:t>
            </a: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No: CS-2341346   |   Batch 2023–27</a:t>
            </a:r>
            <a:endParaRPr lang="en-US" sz="15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34F80C02-D717-014B-C243-B474D59E32F9}"/>
              </a:ext>
            </a:extLst>
          </p:cNvPr>
          <p:cNvSpPr/>
          <p:nvPr/>
        </p:nvSpPr>
        <p:spPr>
          <a:xfrm>
            <a:off x="4579001" y="312289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INTERNSHIP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4462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Flower-species classification is a classic entry point into supervised ML: simple enough to reason about by hand, yet rich enough to demonstrate a complete modelling pipeline on Fisher's 1936 Iris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95728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596896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7" name="Image 0" descr="/home/claude/work/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70662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3182112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Validate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456432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dataset integrity — shape, dtypes, missing values, class balance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32122" y="2395728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11" name="Shape 8"/>
          <p:cNvSpPr/>
          <p:nvPr/>
        </p:nvSpPr>
        <p:spPr>
          <a:xfrm>
            <a:off x="4533290" y="2596896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2" name="Image 1" descr="/home/claude/work/icons/chartb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018" y="270662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3290" y="3182112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Visually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33290" y="3456432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feature distributions and class separability through EDA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15605" y="2395728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16" name="Shape 12"/>
          <p:cNvSpPr/>
          <p:nvPr/>
        </p:nvSpPr>
        <p:spPr>
          <a:xfrm>
            <a:off x="8316773" y="2596896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7" name="Image 2" descr="/home/claude/work/icons/sca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501" y="2706624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6773" y="3182112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Features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16773" y="3456432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feature usefulness qualitatively, then confirm quantitatively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261104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21" name="Shape 16"/>
          <p:cNvSpPr/>
          <p:nvPr/>
        </p:nvSpPr>
        <p:spPr>
          <a:xfrm>
            <a:off x="749808" y="4462272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22" name="Image 3" descr="/home/claude/work/icons/cog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57200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9808" y="5047488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Rigorously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49808" y="5321808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 + scaling that avoids data leakage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32122" y="4261104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26" name="Shape 20"/>
          <p:cNvSpPr/>
          <p:nvPr/>
        </p:nvSpPr>
        <p:spPr>
          <a:xfrm>
            <a:off x="4533290" y="4462272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27" name="Image 4" descr="/home/claude/work/icons/sitemap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3018" y="4572000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33290" y="5047488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Diverse Models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33290" y="5321808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distance-based, tree-based and ensemble algorithms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15605" y="4261104"/>
            <a:ext cx="3527450" cy="1627632"/>
          </a:xfrm>
          <a:prstGeom prst="roundRect">
            <a:avLst>
              <a:gd name="adj" fmla="val 5056"/>
            </a:avLst>
          </a:prstGeom>
          <a:solidFill>
            <a:srgbClr val="F2F0FA"/>
          </a:solidFill>
          <a:ln/>
        </p:spPr>
      </p:sp>
      <p:sp>
        <p:nvSpPr>
          <p:cNvPr id="31" name="Shape 24"/>
          <p:cNvSpPr/>
          <p:nvPr/>
        </p:nvSpPr>
        <p:spPr>
          <a:xfrm>
            <a:off x="8316773" y="4462272"/>
            <a:ext cx="457200" cy="45720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32" name="Image 5" descr="/home/claude/work/icons/trophy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6501" y="457200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16773" y="5047488"/>
            <a:ext cx="31251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Justify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16773" y="5321808"/>
            <a:ext cx="312511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 more than accuracy; recommend a best model with evidence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68880" cy="1207008"/>
          </a:xfrm>
          <a:prstGeom prst="roundRect">
            <a:avLst>
              <a:gd name="adj" fmla="val 6818"/>
            </a:avLst>
          </a:prstGeom>
          <a:solidFill>
            <a:srgbClr val="1E2A5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4533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468880" cy="1207008"/>
          </a:xfrm>
          <a:prstGeom prst="roundRect">
            <a:avLst>
              <a:gd name="adj" fmla="val 6818"/>
            </a:avLst>
          </a:prstGeom>
          <a:solidFill>
            <a:srgbClr val="1E2A5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54533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23134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2468880" cy="1207008"/>
          </a:xfrm>
          <a:prstGeom prst="roundRect">
            <a:avLst>
              <a:gd name="adj" fmla="val 6818"/>
            </a:avLst>
          </a:prstGeom>
          <a:solidFill>
            <a:srgbClr val="1E2A5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3522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Species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807208"/>
            <a:ext cx="2468880" cy="1207008"/>
          </a:xfrm>
          <a:prstGeom prst="roundRect">
            <a:avLst>
              <a:gd name="adj" fmla="val 6818"/>
            </a:avLst>
          </a:prstGeom>
          <a:solidFill>
            <a:srgbClr val="1E2A5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93522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0040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(cm)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126480" y="3566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across species — accuracy is a fair, unbiased headline metric with no majority class to exploit and no need for resampling.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4133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Feature Values by Species</a:t>
            </a:r>
            <a:endParaRPr lang="en-US" sz="130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Setosa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Versicolor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355080" y="4434840"/>
            <a:ext cx="5257800" cy="1508760"/>
          </a:xfrm>
          <a:prstGeom prst="rect">
            <a:avLst/>
          </a:prstGeom>
          <a:solidFill>
            <a:srgbClr val="F2F0FA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is smallest in petal size but largest in sepal width — a hint that sepal width alone is a weak, counter-intuitive predictor.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Plot: Feature Relationships</a:t>
            </a:r>
            <a:endParaRPr lang="en-US" sz="3000" dirty="0"/>
          </a:p>
        </p:txBody>
      </p:sp>
      <p:pic>
        <p:nvPicPr>
          <p:cNvPr id="4" name="Image 0" descr="/home/claude/work/figs/pai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4885411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554480"/>
            <a:ext cx="402336" cy="40233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1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561" y="1651041"/>
            <a:ext cx="209215" cy="2092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24928" y="153619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is isolated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424928" y="1810512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 tight, completely separate cluster in almost every feature pair.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858000" y="2606040"/>
            <a:ext cx="402336" cy="40233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0" name="Image 2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561" y="2702601"/>
            <a:ext cx="209215" cy="2092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24928" y="258775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features separate best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7424928" y="2862072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and Virginica overlap only modestly, mostly in sepal-based views.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858000" y="3657600"/>
            <a:ext cx="402336" cy="402336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4" name="Image 3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561" y="3754161"/>
            <a:ext cx="209215" cy="20921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24928" y="3639312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pairs overlap more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7424928" y="3913632"/>
            <a:ext cx="4233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signal — consistent with lower discriminative ability.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858000" y="480060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1E2A56"/>
          </a:solidFill>
          <a:ln/>
        </p:spPr>
      </p:sp>
      <p:sp>
        <p:nvSpPr>
          <p:cNvPr id="18" name="Text 12"/>
          <p:cNvSpPr/>
          <p:nvPr/>
        </p:nvSpPr>
        <p:spPr>
          <a:xfrm>
            <a:off x="7086600" y="492861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legend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114032" y="5239512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4"/>
          <p:cNvSpPr/>
          <p:nvPr/>
        </p:nvSpPr>
        <p:spPr>
          <a:xfrm>
            <a:off x="7360920" y="5184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114032" y="55321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16"/>
          <p:cNvSpPr/>
          <p:nvPr/>
        </p:nvSpPr>
        <p:spPr>
          <a:xfrm>
            <a:off x="7360920" y="54772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114032" y="5824728"/>
            <a:ext cx="146304" cy="146304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24" name="Text 18"/>
          <p:cNvSpPr/>
          <p:nvPr/>
        </p:nvSpPr>
        <p:spPr>
          <a:xfrm>
            <a:off x="7360920" y="57698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Virginica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Plots &amp; Feature Correlation</a:t>
            </a:r>
            <a:endParaRPr lang="en-US" sz="3000" dirty="0"/>
          </a:p>
        </p:txBody>
      </p:sp>
      <p:pic>
        <p:nvPicPr>
          <p:cNvPr id="4" name="Image 0" descr="/home/claude/work/figs/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49554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spread by species</a:t>
            </a:r>
            <a:endParaRPr lang="en-US" sz="1050" dirty="0"/>
          </a:p>
        </p:txBody>
      </p:sp>
      <p:pic>
        <p:nvPicPr>
          <p:cNvPr id="6" name="Image 1" descr="/home/claude/work/figs/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417320"/>
            <a:ext cx="3246120" cy="27051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03720" y="41772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numeric features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903720" y="45796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2F0FA"/>
          </a:solidFill>
          <a:ln/>
        </p:spPr>
      </p:sp>
      <p:sp>
        <p:nvSpPr>
          <p:cNvPr id="9" name="Text 5"/>
          <p:cNvSpPr/>
          <p:nvPr/>
        </p:nvSpPr>
        <p:spPr>
          <a:xfrm>
            <a:off x="7086600" y="468934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length/width are strongly correlated with each other and with sepal length. Sepal width stands apart — weak or slightly negative correlation with the rest.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Violin Plots &amp; EDA Summary</a:t>
            </a:r>
            <a:endParaRPr lang="en-US" sz="3000" dirty="0"/>
          </a:p>
        </p:txBody>
      </p:sp>
      <p:pic>
        <p:nvPicPr>
          <p:cNvPr id="4" name="Image 0" descr="/home/claude/work/figs/viol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7680960" cy="29542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490407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&amp; petal width: three distinct, mostly non-overlapping density regions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458200" y="1463040"/>
            <a:ext cx="3200400" cy="4709160"/>
          </a:xfrm>
          <a:prstGeom prst="roundRect">
            <a:avLst>
              <a:gd name="adj" fmla="val 2571"/>
            </a:avLst>
          </a:prstGeom>
          <a:solidFill>
            <a:srgbClr val="1E2A56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TAKEAWAYS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0" y="2084832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9" name="Text 6"/>
          <p:cNvSpPr/>
          <p:nvPr/>
        </p:nvSpPr>
        <p:spPr>
          <a:xfrm>
            <a:off x="8915400" y="1975104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 is linearly separable on almost every feature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0" y="2980944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1" name="Text 8"/>
          <p:cNvSpPr/>
          <p:nvPr/>
        </p:nvSpPr>
        <p:spPr>
          <a:xfrm>
            <a:off x="8915400" y="2871216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Versicolor / Virginica overlap more, but remain largely distinguishable on petal dimensions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86800" y="3877056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3" name="Text 10"/>
          <p:cNvSpPr/>
          <p:nvPr/>
        </p:nvSpPr>
        <p:spPr>
          <a:xfrm>
            <a:off x="8915400" y="37673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&amp; width are the most discriminative, correlated pair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0" y="4773168"/>
            <a:ext cx="91440" cy="9144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5" name="Text 12"/>
          <p:cNvSpPr/>
          <p:nvPr/>
        </p:nvSpPr>
        <p:spPr>
          <a:xfrm>
            <a:off x="8915400" y="46634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Sepal width is the weakest, most independent feature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Feature Importance</a:t>
            </a:r>
            <a:endParaRPr lang="en-US" sz="3000" dirty="0"/>
          </a:p>
        </p:txBody>
      </p:sp>
      <p:pic>
        <p:nvPicPr>
          <p:cNvPr id="4" name="Image 0" descr="/home/claude/work/figs/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91640"/>
            <a:ext cx="6309360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9834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full-dataset fit, used for analysis only — the held-out train/test split in Section 6 is separate and does not leak information.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178040" y="1691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Feature Assessment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011680"/>
          <a:ext cx="4480560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F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zero overlap between species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Petal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Tight, well-separated clusters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Setosa separates; others 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Sepal width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overlap across all species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178040" y="416052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2F0FA"/>
          </a:solidFill>
          <a:ln/>
        </p:spPr>
      </p:sp>
      <p:sp>
        <p:nvSpPr>
          <p:cNvPr id="9" name="Text 5"/>
          <p:cNvSpPr/>
          <p:nvPr/>
        </p:nvSpPr>
        <p:spPr>
          <a:xfrm>
            <a:off x="7360920" y="4279392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Petal length and width together account for ~87% of the model's decision signal. No features were removed — even weak ones can add marginal benefit on a set this small.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F2F0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39112"/>
            <a:ext cx="512064" cy="51206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6" name="Image 0" descr="/home/claude/work/icons/projec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7" y="216200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" y="2953512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338328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stratified train-test split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4672" y="3867912"/>
            <a:ext cx="2972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train  ·  30 test samples, 10 per class in the test set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53458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1E2A56"/>
          </a:solidFill>
          <a:ln/>
        </p:spPr>
      </p:sp>
      <p:sp>
        <p:nvSpPr>
          <p:cNvPr id="12" name="Shape 9"/>
          <p:cNvSpPr/>
          <p:nvPr/>
        </p:nvSpPr>
        <p:spPr>
          <a:xfrm>
            <a:off x="4609490" y="2039112"/>
            <a:ext cx="512064" cy="512064"/>
          </a:xfrm>
          <a:prstGeom prst="ellipse">
            <a:avLst/>
          </a:prstGeom>
          <a:solidFill>
            <a:srgbClr val="324379"/>
          </a:solidFill>
          <a:ln/>
        </p:spPr>
      </p:sp>
      <p:pic>
        <p:nvPicPr>
          <p:cNvPr id="13" name="Image 1" descr="/home/claude/work/icons/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386" y="2162007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490" y="26974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09490" y="2953512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09490" y="338328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(x − μ) / σ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09490" y="3867912"/>
            <a:ext cx="2972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 on training data only, then applied to test data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58277" y="1783080"/>
            <a:ext cx="3484778" cy="2880360"/>
          </a:xfrm>
          <a:prstGeom prst="roundRect">
            <a:avLst>
              <a:gd name="adj" fmla="val 3175"/>
            </a:avLst>
          </a:prstGeom>
          <a:solidFill>
            <a:srgbClr val="F2F0FA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4309" y="2039112"/>
            <a:ext cx="512064" cy="51206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20" name="Image 2" descr="/home/claude/work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204" y="2162007"/>
            <a:ext cx="266273" cy="26627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4309" y="2697480"/>
            <a:ext cx="29727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8414309" y="2953512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 Leakage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414309" y="3383280"/>
            <a:ext cx="29727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test-set information used to fit the scaler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414309" y="3867912"/>
            <a:ext cx="29727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KNN (distance-based) &amp; Logistic Regression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4983480"/>
            <a:ext cx="11094415" cy="960120"/>
          </a:xfrm>
          <a:prstGeom prst="roundRect">
            <a:avLst>
              <a:gd name="adj" fmla="val 8571"/>
            </a:avLst>
          </a:prstGeom>
          <a:solidFill>
            <a:srgbClr val="F2F0FA"/>
          </a:solidFill>
          <a:ln/>
        </p:spPr>
      </p:sp>
      <p:sp>
        <p:nvSpPr>
          <p:cNvPr id="26" name="Shape 21"/>
          <p:cNvSpPr/>
          <p:nvPr/>
        </p:nvSpPr>
        <p:spPr>
          <a:xfrm>
            <a:off x="841248" y="5230368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27" name="Image 3" descr="/home/claude/work/icons/bulb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5340096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08760" y="4983480"/>
            <a:ext cx="9951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stratification, a single unlucky split could under-represent a class in the test set, making the reported accuracy unreliable on a dataset this small.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Classification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81580" cy="3749040"/>
          </a:xfrm>
          <a:prstGeom prst="roundRect">
            <a:avLst>
              <a:gd name="adj" fmla="val 3542"/>
            </a:avLst>
          </a:prstGeom>
          <a:solidFill>
            <a:srgbClr val="F2F0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2581580" cy="91440"/>
          </a:xfrm>
          <a:prstGeom prst="roundRect">
            <a:avLst/>
          </a:prstGeom>
          <a:solidFill>
            <a:srgbClr val="F2F0FA"/>
          </a:solidFill>
          <a:ln/>
        </p:spPr>
      </p:sp>
      <p:sp>
        <p:nvSpPr>
          <p:cNvPr id="6" name="Shape 4"/>
          <p:cNvSpPr/>
          <p:nvPr/>
        </p:nvSpPr>
        <p:spPr>
          <a:xfrm>
            <a:off x="1537678" y="1938528"/>
            <a:ext cx="603504" cy="60350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7" name="Image 0" descr="/home/claude/work/icons/chartli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519" y="2083369"/>
            <a:ext cx="313822" cy="3138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97480"/>
            <a:ext cx="23072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16470" y="33467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6C4F9C"/>
          </a:solidFill>
          <a:ln/>
        </p:spPr>
      </p:sp>
      <p:sp>
        <p:nvSpPr>
          <p:cNvPr id="10" name="Text 7"/>
          <p:cNvSpPr/>
          <p:nvPr/>
        </p:nvSpPr>
        <p:spPr>
          <a:xfrm>
            <a:off x="1016470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Baseline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3794760"/>
            <a:ext cx="2179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a weighted feature sum. max_iter=200. Interpretable coefficients.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6252" y="1645920"/>
            <a:ext cx="2581580" cy="3749040"/>
          </a:xfrm>
          <a:prstGeom prst="roundRect">
            <a:avLst>
              <a:gd name="adj" fmla="val 3542"/>
            </a:avLst>
          </a:prstGeom>
          <a:solidFill>
            <a:srgbClr val="F2F0FA"/>
          </a:solidFill>
          <a:ln/>
        </p:spPr>
      </p:sp>
      <p:sp>
        <p:nvSpPr>
          <p:cNvPr id="13" name="Shape 10"/>
          <p:cNvSpPr/>
          <p:nvPr/>
        </p:nvSpPr>
        <p:spPr>
          <a:xfrm>
            <a:off x="3386252" y="1645920"/>
            <a:ext cx="2581580" cy="91440"/>
          </a:xfrm>
          <a:prstGeom prst="roundRect">
            <a:avLst/>
          </a:prstGeom>
          <a:solidFill>
            <a:srgbClr val="F2F0FA"/>
          </a:solidFill>
          <a:ln/>
        </p:spPr>
      </p:sp>
      <p:sp>
        <p:nvSpPr>
          <p:cNvPr id="14" name="Shape 11"/>
          <p:cNvSpPr/>
          <p:nvPr/>
        </p:nvSpPr>
        <p:spPr>
          <a:xfrm>
            <a:off x="4375290" y="1938528"/>
            <a:ext cx="603504" cy="60350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5" name="Image 1" descr="/home/claude/work/icons/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131" y="2083369"/>
            <a:ext cx="313822" cy="31382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23412" y="2697480"/>
            <a:ext cx="23072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Neighbours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3854082" y="33467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6C4F9C"/>
          </a:solidFill>
          <a:ln/>
        </p:spPr>
      </p:sp>
      <p:sp>
        <p:nvSpPr>
          <p:cNvPr id="18" name="Text 14"/>
          <p:cNvSpPr/>
          <p:nvPr/>
        </p:nvSpPr>
        <p:spPr>
          <a:xfrm>
            <a:off x="3854082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587420" y="3794760"/>
            <a:ext cx="2179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of k=5 nearest neighbours (Euclidean). No boundary-shape assumptions.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23864" y="1645920"/>
            <a:ext cx="2581580" cy="3749040"/>
          </a:xfrm>
          <a:prstGeom prst="roundRect">
            <a:avLst>
              <a:gd name="adj" fmla="val 3542"/>
            </a:avLst>
          </a:prstGeom>
          <a:solidFill>
            <a:srgbClr val="F2F0FA"/>
          </a:solidFill>
          <a:ln/>
        </p:spPr>
      </p:sp>
      <p:sp>
        <p:nvSpPr>
          <p:cNvPr id="21" name="Shape 17"/>
          <p:cNvSpPr/>
          <p:nvPr/>
        </p:nvSpPr>
        <p:spPr>
          <a:xfrm>
            <a:off x="6223864" y="1645920"/>
            <a:ext cx="2581580" cy="91440"/>
          </a:xfrm>
          <a:prstGeom prst="roundRect">
            <a:avLst/>
          </a:prstGeom>
          <a:solidFill>
            <a:srgbClr val="F2F0FA"/>
          </a:solidFill>
          <a:ln/>
        </p:spPr>
      </p:sp>
      <p:sp>
        <p:nvSpPr>
          <p:cNvPr id="22" name="Shape 18"/>
          <p:cNvSpPr/>
          <p:nvPr/>
        </p:nvSpPr>
        <p:spPr>
          <a:xfrm>
            <a:off x="7212902" y="1938528"/>
            <a:ext cx="603504" cy="60350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23" name="Image 2" descr="/home/claude/work/icons/site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742" y="2083369"/>
            <a:ext cx="313822" cy="31382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61024" y="2697480"/>
            <a:ext cx="23072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450" dirty="0"/>
          </a:p>
        </p:txBody>
      </p:sp>
      <p:sp>
        <p:nvSpPr>
          <p:cNvPr id="25" name="Shape 20"/>
          <p:cNvSpPr/>
          <p:nvPr/>
        </p:nvSpPr>
        <p:spPr>
          <a:xfrm>
            <a:off x="6691694" y="33467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6C4F9C"/>
          </a:solidFill>
          <a:ln/>
        </p:spPr>
      </p:sp>
      <p:sp>
        <p:nvSpPr>
          <p:cNvPr id="26" name="Text 21"/>
          <p:cNvSpPr/>
          <p:nvPr/>
        </p:nvSpPr>
        <p:spPr>
          <a:xfrm>
            <a:off x="6691694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425032" y="3794760"/>
            <a:ext cx="2179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recursive splits. max_depth=4. Reads directly as if/else rules.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9061475" y="1645920"/>
            <a:ext cx="2581580" cy="3749040"/>
          </a:xfrm>
          <a:prstGeom prst="roundRect">
            <a:avLst>
              <a:gd name="adj" fmla="val 3542"/>
            </a:avLst>
          </a:prstGeom>
          <a:solidFill>
            <a:srgbClr val="F2F0FA"/>
          </a:solidFill>
          <a:ln/>
        </p:spPr>
      </p:sp>
      <p:sp>
        <p:nvSpPr>
          <p:cNvPr id="29" name="Shape 24"/>
          <p:cNvSpPr/>
          <p:nvPr/>
        </p:nvSpPr>
        <p:spPr>
          <a:xfrm>
            <a:off x="9061475" y="1645920"/>
            <a:ext cx="2581580" cy="91440"/>
          </a:xfrm>
          <a:prstGeom prst="roundRect">
            <a:avLst/>
          </a:prstGeom>
          <a:solidFill>
            <a:srgbClr val="F2F0FA"/>
          </a:solidFill>
          <a:ln/>
        </p:spPr>
      </p:sp>
      <p:sp>
        <p:nvSpPr>
          <p:cNvPr id="30" name="Shape 25"/>
          <p:cNvSpPr/>
          <p:nvPr/>
        </p:nvSpPr>
        <p:spPr>
          <a:xfrm>
            <a:off x="10050513" y="1938528"/>
            <a:ext cx="603504" cy="603504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31" name="Image 3" descr="/home/claude/work/icons/tre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354" y="2083369"/>
            <a:ext cx="313822" cy="31382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98635" y="2697480"/>
            <a:ext cx="23072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33" name="Shape 27"/>
          <p:cNvSpPr/>
          <p:nvPr/>
        </p:nvSpPr>
        <p:spPr>
          <a:xfrm>
            <a:off x="9529305" y="3346704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6C4F9C"/>
          </a:solidFill>
          <a:ln/>
        </p:spPr>
      </p:sp>
      <p:sp>
        <p:nvSpPr>
          <p:cNvPr id="34" name="Text 28"/>
          <p:cNvSpPr/>
          <p:nvPr/>
        </p:nvSpPr>
        <p:spPr>
          <a:xfrm>
            <a:off x="9529305" y="33467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262643" y="3794760"/>
            <a:ext cx="21792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max_depth=5, bootstrapped + random feature subsets, majority vote.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48640" y="5596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trained on the identical scaled training data, so results are directly comparable across four different modelling philosophies.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&amp; Cross-Validation</a:t>
            </a:r>
            <a:endParaRPr lang="en-US" sz="3000" dirty="0"/>
          </a:p>
        </p:txBody>
      </p:sp>
      <p:pic>
        <p:nvPicPr>
          <p:cNvPr id="4" name="Image 0" descr="/home/claude/work/figs/accuracy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943600" cy="330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810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bars show 5-fold CV mean ± std deviation on the training set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417320"/>
          <a:ext cx="489204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Std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766560" y="32918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reach an identical 93.33% test accuracy (28/30) — the test set alone can't separate them, so 5-fold cross-validation breaks the tie.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766560" y="41605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2F0FA"/>
          </a:solidFill>
          <a:ln/>
        </p:spPr>
      </p:sp>
      <p:sp>
        <p:nvSpPr>
          <p:cNvPr id="9" name="Text 5"/>
          <p:cNvSpPr/>
          <p:nvPr/>
        </p:nvSpPr>
        <p:spPr>
          <a:xfrm>
            <a:off x="6949440" y="4270248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C4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highest CV mean (96.67%) but also the most variability (σ=0.031).
</a:t>
            </a: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the lowest CV std (0.017) — the most consistent across folds.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6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Analysis</a:t>
            </a:r>
            <a:endParaRPr lang="en-US" sz="3000" dirty="0"/>
          </a:p>
        </p:txBody>
      </p:sp>
      <p:pic>
        <p:nvPicPr>
          <p:cNvPr id="4" name="Image 0" descr="/home/claude/work/figs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5394960" cy="414996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46304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6" name="Image 1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5727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85432" y="1444752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Setosa: zero errors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885432" y="1737360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Setosa test samples are classified correctly by every single model.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263640" y="2633472"/>
            <a:ext cx="457200" cy="457200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10" name="Image 2" descr="/home/claude/work/icons/warnin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2743200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85432" y="261518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Versicolor ↔ Virginica confusion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885432" y="2907792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misclassification, on every model, occurs only between these two species.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6263640" y="3803904"/>
            <a:ext cx="457200" cy="457200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14" name="Image 3" descr="/home/claude/work/icons/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913632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85432" y="378561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errs differently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885432" y="4078224"/>
            <a:ext cx="4773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Versicolor correct, but 2 Virginica pulled toward Versicolor — a distinct, local-neighbourhood error pattern.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263640" y="502005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one aggregate accuracy figure would hide this — the confusion matrix reveals a real behavioural difference between models with identical test accuracy.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Really Show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Iris dataset is close to linearly separable, so even a simple linear model performs on par with more flexible non-linear ones — the ceiling on accuracy is set by genuine overlap between two species, not by model choice.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2F0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7" name="Image 0" descr="/home/claude/work/icons/bul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27377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95728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angles agree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600200" y="2706624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(Sec. 5) and confusion matrices (Sec. 7) both point to the same story: petal measurements dominate, and errors concentrate only between Versicolor and Virginica.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639312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3E1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3959352"/>
            <a:ext cx="548640" cy="54864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2" name="Image 1" descr="/home/claude/work/icons/scal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091026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749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differ in behaviour, not accuracy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600200" y="4059936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difference between models is how — and how consistently — they resolve the ambiguous Versicolor/Virginica boundary, not their headline test score.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992624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2F0FA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5312664"/>
            <a:ext cx="548640" cy="548640"/>
          </a:xfrm>
          <a:prstGeom prst="ellipse">
            <a:avLst/>
          </a:prstGeom>
          <a:solidFill>
            <a:srgbClr val="1E2A56"/>
          </a:solidFill>
          <a:ln/>
        </p:spPr>
      </p:sp>
      <p:pic>
        <p:nvPicPr>
          <p:cNvPr id="17" name="Image 2" descr="/home/claude/work/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5444338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5102352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vs. global decision-making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600200" y="5413248"/>
            <a:ext cx="98142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KNN's neighbourhood-based predictions produce a qualitatively different error pattern than the other three models, despite an identical test accuracy.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377440"/>
            <a:ext cx="4754880" cy="4754880"/>
          </a:xfrm>
          <a:prstGeom prst="ellipse">
            <a:avLst/>
          </a:prstGeom>
          <a:solidFill>
            <a:srgbClr val="2734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Model: Random Forest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6" name="Image 0" descr="/home/claude/work/icons/troph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15800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90472"/>
            <a:ext cx="8961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93.33%</a:t>
            </a:r>
            <a:r>
              <a:rPr lang="en-US" sz="13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test accuracy  · 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</a:t>
            </a:r>
            <a:r>
              <a:rPr lang="en-US" sz="13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lowest CV std of all models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5419192" cy="1481328"/>
          </a:xfrm>
          <a:prstGeom prst="roundRect">
            <a:avLst>
              <a:gd name="adj" fmla="val 6173"/>
            </a:avLst>
          </a:prstGeom>
          <a:solidFill>
            <a:srgbClr val="273463"/>
          </a:solidFill>
          <a:ln/>
        </p:spPr>
      </p:sp>
      <p:sp>
        <p:nvSpPr>
          <p:cNvPr id="9" name="Shape 6"/>
          <p:cNvSpPr/>
          <p:nvPr/>
        </p:nvSpPr>
        <p:spPr>
          <a:xfrm>
            <a:off x="749808" y="2532888"/>
            <a:ext cx="402336" cy="402336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10" name="Image 1" descr="/home/claude/work/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69" y="2629449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80160" y="2514600"/>
            <a:ext cx="448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Joint-highest test accuracy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49808" y="3044952"/>
            <a:ext cx="499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best score of any model — 28 of 30 held-out samples correct.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23864" y="2331720"/>
            <a:ext cx="5419192" cy="1481328"/>
          </a:xfrm>
          <a:prstGeom prst="roundRect">
            <a:avLst>
              <a:gd name="adj" fmla="val 6173"/>
            </a:avLst>
          </a:prstGeom>
          <a:solidFill>
            <a:srgbClr val="273463"/>
          </a:solidFill>
          <a:ln/>
        </p:spPr>
      </p:sp>
      <p:sp>
        <p:nvSpPr>
          <p:cNvPr id="14" name="Shape 10"/>
          <p:cNvSpPr/>
          <p:nvPr/>
        </p:nvSpPr>
        <p:spPr>
          <a:xfrm>
            <a:off x="6425032" y="2532888"/>
            <a:ext cx="402336" cy="402336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15" name="Image 2" descr="/home/claude/work/icons/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92" y="2629449"/>
            <a:ext cx="209215" cy="2092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55384" y="2514600"/>
            <a:ext cx="448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stable across folds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425032" y="3044952"/>
            <a:ext cx="499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cross-validation standard deviation (0.017) — generalises reliably rather than fitting one split.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995928"/>
            <a:ext cx="5419192" cy="1481328"/>
          </a:xfrm>
          <a:prstGeom prst="roundRect">
            <a:avLst>
              <a:gd name="adj" fmla="val 6173"/>
            </a:avLst>
          </a:prstGeom>
          <a:solidFill>
            <a:srgbClr val="273463"/>
          </a:solidFill>
          <a:ln/>
        </p:spPr>
      </p:sp>
      <p:sp>
        <p:nvSpPr>
          <p:cNvPr id="19" name="Shape 14"/>
          <p:cNvSpPr/>
          <p:nvPr/>
        </p:nvSpPr>
        <p:spPr>
          <a:xfrm>
            <a:off x="749808" y="4197096"/>
            <a:ext cx="402336" cy="402336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20" name="Image 3" descr="/home/claude/work/icons/tre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9" y="4293657"/>
            <a:ext cx="209215" cy="20921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178808"/>
            <a:ext cx="448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weak features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9808" y="4709160"/>
            <a:ext cx="499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ensemble on random feature subsets, it handles sepal width's low signal without manual elimination.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223864" y="3995928"/>
            <a:ext cx="5419192" cy="1481328"/>
          </a:xfrm>
          <a:prstGeom prst="roundRect">
            <a:avLst>
              <a:gd name="adj" fmla="val 6173"/>
            </a:avLst>
          </a:prstGeom>
          <a:solidFill>
            <a:srgbClr val="273463"/>
          </a:solidFill>
          <a:ln/>
        </p:spPr>
      </p:sp>
      <p:sp>
        <p:nvSpPr>
          <p:cNvPr id="24" name="Shape 18"/>
          <p:cNvSpPr/>
          <p:nvPr/>
        </p:nvSpPr>
        <p:spPr>
          <a:xfrm>
            <a:off x="6425032" y="4197096"/>
            <a:ext cx="402336" cy="402336"/>
          </a:xfrm>
          <a:prstGeom prst="ellipse">
            <a:avLst/>
          </a:prstGeom>
          <a:solidFill>
            <a:srgbClr val="8B1E3F"/>
          </a:solidFill>
          <a:ln/>
        </p:spPr>
      </p:sp>
      <p:pic>
        <p:nvPicPr>
          <p:cNvPr id="25" name="Image 4" descr="/home/claude/work/icons/bulb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1592" y="4293657"/>
            <a:ext cx="209215" cy="20921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955384" y="4178808"/>
            <a:ext cx="448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at the ensemble level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425032" y="4709160"/>
            <a:ext cx="49985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scores explain its decisions — petal dimensions dominate — rather than acting as a black box.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548640" y="556869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remains a strong, lightweight alternative — equal accuracy with simpler, directly interpretable coefficients.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12264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— each of 30 test samples is ~3.3% of 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609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accuracy comes from a single 80/20 split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192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hyperparameter search — values set by reasonable defaults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87368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77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the four classic measurements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45736"/>
            <a:ext cx="82296" cy="82296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6360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may not transfer to noisier, real-world data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554480"/>
            <a:ext cx="12802" cy="4251960"/>
          </a:xfrm>
          <a:prstGeom prst="rect">
            <a:avLst/>
          </a:prstGeom>
          <a:solidFill>
            <a:srgbClr val="E3E1F0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2011680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8" name="Image 0" descr="/home/claude/work/icons/rock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30" y="2112630"/>
            <a:ext cx="218724" cy="2187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50608" y="19933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hyperparameter search (GridSearchCV) for every model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2999232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1" name="Image 1" descr="/home/claude/work/icons/sitem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630" y="3100182"/>
            <a:ext cx="218724" cy="2187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50608" y="29809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additional algorithms — SVM, Gradient Boosting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583680" y="3986784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4" name="Image 2" descr="/home/claude/work/icons/chartba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30" y="4087734"/>
            <a:ext cx="218724" cy="2187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150608" y="396849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2-D decision boundaries on the top two features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583680" y="4974336"/>
            <a:ext cx="420624" cy="420624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27" name="Image 3" descr="/home/claude/work/icons/seedling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630" y="5075286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50608" y="4956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across multiple random seeds for a robust estimate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Tech Stack &amp; Deliverables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6" name="Image 0" descr="/home/claude/work/icons/pytho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188403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097280" y="20025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386584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10" name="Image 1" descr="/home/claude/work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2487534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3682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97280" y="26060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2990088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14" name="Image 2" descr="/home/claude/work/icons/brai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3091038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097280" y="32095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3593592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18" name="Image 3" descr="/home/claude/work/icons/chartb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3694542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seaborn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097280" y="38130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48640" y="4197096"/>
            <a:ext cx="420624" cy="420624"/>
          </a:xfrm>
          <a:prstGeom prst="ellipse">
            <a:avLst/>
          </a:prstGeom>
          <a:solidFill>
            <a:srgbClr val="6C4F9C"/>
          </a:solidFill>
          <a:ln/>
        </p:spPr>
      </p:sp>
      <p:pic>
        <p:nvPicPr>
          <p:cNvPr id="22" name="Image 4" descr="/home/claude/work/icons/fi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0" y="4298046"/>
            <a:ext cx="218724" cy="21872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178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097280" y="4416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486400" y="1371600"/>
            <a:ext cx="12802" cy="4709160"/>
          </a:xfrm>
          <a:prstGeom prst="rect">
            <a:avLst/>
          </a:prstGeom>
          <a:solidFill>
            <a:srgbClr val="E3E1F0"/>
          </a:solidFill>
          <a:ln/>
        </p:spPr>
      </p:sp>
      <p:sp>
        <p:nvSpPr>
          <p:cNvPr id="26" name="Text 19"/>
          <p:cNvSpPr/>
          <p:nvPr/>
        </p:nvSpPr>
        <p:spPr>
          <a:xfrm>
            <a:off x="5806440" y="1371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78308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iris_classification.ipynb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notebook — code, analysis, narrative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requirements.txt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package 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README.md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Overview, setup instructions, checklist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*.png (7 figures)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Pairplot, boxplots, heatmap, violins, importance, confusion matrices, accuracy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0"/>
          <p:cNvSpPr/>
          <p:nvPr/>
        </p:nvSpPr>
        <p:spPr>
          <a:xfrm>
            <a:off x="5806440" y="47091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and numeric results are reproducible from the notebook's exact logic, with a fixed random seed (random_state = 42).</a:t>
            </a:r>
            <a:endParaRPr lang="en-US" sz="105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Flower Classification — Data Science Internship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27346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273463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84168" y="3977640"/>
            <a:ext cx="4023360" cy="10973"/>
          </a:xfrm>
          <a:prstGeom prst="rect">
            <a:avLst/>
          </a:prstGeom>
          <a:solidFill>
            <a:srgbClr val="3B4A8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20624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Mahima Shiv Dwivedi</a:t>
            </a:r>
            <a:endParaRPr lang="en-US" sz="15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CS-2341346   ·   B.Tech CSE, 7th Semester</a:t>
            </a:r>
            <a:endParaRPr lang="en-US" sz="1500" dirty="0"/>
          </a:p>
          <a:p>
            <a:pPr marL="0" indent="0" algn="ctr">
              <a:lnSpc>
                <a:spcPct val="135000"/>
              </a:lnSpc>
              <a:buNone/>
            </a:pPr>
            <a:endParaRPr lang="en-US" sz="15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00" dirty="0">
                <a:solidFill>
                  <a:srgbClr val="9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1580</Words>
  <Application>Microsoft Office PowerPoint</Application>
  <PresentationFormat>Widescreen</PresentationFormat>
  <Paragraphs>301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mswx999 .</cp:lastModifiedBy>
  <cp:revision>2</cp:revision>
  <dcterms:created xsi:type="dcterms:W3CDTF">2026-09-13T10:31:49Z</dcterms:created>
  <dcterms:modified xsi:type="dcterms:W3CDTF">2026-09-13T10:36:51Z</dcterms:modified>
</cp:coreProperties>
</file>